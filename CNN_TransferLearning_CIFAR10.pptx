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1E34C8-7312-483D-8D75-71E913C7E20F}">
  <a:tblStyle styleId="{371E34C8-7312-483D-8D75-71E913C7E20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[morning/afternoon]. Today I'll present my project on image classification using CIFAR-10. I built two models: a CNN from scratch, and a transfer learning model using MobileNetV2, then compared them.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CIFAR-10 has 60,000 small color images across 10 categories - things like airplane, cat, dog, ship, truck. Each image is only 32 by 32 pixels, which is quite small and low resolution. Here you can see some examples with their real labels, straight from the dataset.</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training, I normalized the pixel values - they originally range from 0 to 255, and I scaled them down to 0 to 1. This helps the neural network train faster and more reliably. Later, for the transfer learning model, I also had to resize the images up to 96 by 96 pixels, because MobileNetV2 requires a minimum input size.</a:t>
            </a:r>
            <a:endParaRPr/>
          </a:p>
        </p:txBody>
      </p:sp>
      <p:sp>
        <p:nvSpPr>
          <p:cNvPr id="33" name="Google Shape;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first model is a CNN I built from scratch. It has two convolutional layers, each followed by a pooling layer, then dense layers at the end. Convolutional layers work like filters that slide across the image looking for patterns - edges, textures, shapes. Pooling layers reduce the image size, keeping only the strongest signal. In total, this model has about 282 thousand trainable parameters, all learned from scratch. I used the Adam optimizer and early stopping to avoid overfitting.</a:t>
            </a:r>
            <a:endParaRPr/>
          </a:p>
        </p:txBody>
      </p:sp>
      <p:sp>
        <p:nvSpPr>
          <p:cNvPr id="42" name="Google Shape;4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confusion matrix for the CNN from scratch. The model reached 70% accuracy on the test set. It performs best on vehicles - automobile, ship, truck - probably because they have more rigid, consistent shapes. It struggles most with animals like cat, bird and dog, which have much more variable poses and shapes, so they're easier to confuse with each other. You can see that clearly in the matrix: cat and dog get confused with each other a lot.</a:t>
            </a:r>
            <a:endParaRPr/>
          </a:p>
        </p:txBody>
      </p:sp>
      <p:sp>
        <p:nvSpPr>
          <p:cNvPr id="51" name="Google Shape;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second model, instead of learning from scratch, I used transfer learning with MobileNetV2 - a model already pretrained on ImageNet, a huge dataset with over a million images. The idea is that this model already learned general visual patterns, so I freeze all of its weights - meaning they don't change during training - and I only add and train a small new layer on top, specific to our 10 classes. As you can see, out of about 2.27 million total parameters, only 12,810 are actually trained. Everything else is reused knowledge.</a:t>
            </a:r>
            <a:endParaRPr/>
          </a:p>
        </p:txBody>
      </p:sp>
      <p:sp>
        <p:nvSpPr>
          <p:cNvPr id="60" name="Google Shape;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transfer learning model reached 86% accuracy on the test set, well above the 70% from the CNN from scratch. It also converged extremely fast - 85% validation accuracy after just the first epoch. The biggest gains were exactly on the classes the first model struggled with the most: bird, cat, and dog. That makes sense - the pretrained features already capture general shapes and textures well, which helps most with these harder, more visually varied classes.</a:t>
            </a:r>
            <a:endParaRPr/>
          </a:p>
        </p:txBody>
      </p:sp>
      <p:sp>
        <p:nvSpPr>
          <p:cNvPr id="70" name="Google Shape;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summarize: transfer learning clearly outperformed the CNN from scratch, both in accuracy - 86% versus 70% - and in how fast it converged. It achieved this while training far fewer parameters, because it reuses knowledge already learned from ImageNet. The trade-off is that it needs larger images as input, so there's extra preprocessing cost, and it depends on an external pretrained model rather than learning purely from our own data. The CNN from scratch is simpler and fully self-contained, but needs more training time and still falls short in accuracy.</a:t>
            </a:r>
            <a:endParaRPr/>
          </a:p>
        </p:txBody>
      </p:sp>
      <p:sp>
        <p:nvSpPr>
          <p:cNvPr id="79" name="Google Shape;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transfer learning clearly outperformed building a CNN from scratch on this task, both in final accuracy and in training speed. The improvement was strongest on the classes that were hardest for the simple model - mostly animals with variable poses. My main conclusion is that for small datasets like CIFAR-10, transfer learning is a strong, efficient default choice. Thank you.</a:t>
            </a:r>
            <a:endParaRPr/>
          </a:p>
        </p:txBody>
      </p:sp>
      <p:sp>
        <p:nvSpPr>
          <p:cNvPr id="88" name="Google Shape;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15" name="Shape 15"/>
        <p:cNvGrpSpPr/>
        <p:nvPr/>
      </p:nvGrpSpPr>
      <p:grpSpPr>
        <a:xfrm>
          <a:off x="0" y="0"/>
          <a:ext cx="0" cy="0"/>
          <a:chOff x="0" y="0"/>
          <a:chExt cx="0" cy="0"/>
        </a:xfrm>
      </p:grpSpPr>
      <p:sp>
        <p:nvSpPr>
          <p:cNvPr id="16" name="Google Shape;16;p3"/>
          <p:cNvSpPr/>
          <p:nvPr/>
        </p:nvSpPr>
        <p:spPr>
          <a:xfrm>
            <a:off x="731520" y="2103120"/>
            <a:ext cx="1069848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Image Classification</a:t>
            </a:r>
            <a:endParaRPr b="0" i="0" sz="4400" u="none" cap="none" strike="noStrike">
              <a:solidFill>
                <a:schemeClr val="dk1"/>
              </a:solidFill>
              <a:latin typeface="Calibri"/>
              <a:ea typeface="Calibri"/>
              <a:cs typeface="Calibri"/>
              <a:sym typeface="Calibri"/>
            </a:endParaRPr>
          </a:p>
        </p:txBody>
      </p:sp>
      <p:sp>
        <p:nvSpPr>
          <p:cNvPr id="17" name="Google Shape;17;p3"/>
          <p:cNvSpPr/>
          <p:nvPr/>
        </p:nvSpPr>
        <p:spPr>
          <a:xfrm>
            <a:off x="731520" y="2880360"/>
            <a:ext cx="106984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EB4E8"/>
              </a:buClr>
              <a:buSzPts val="2200"/>
              <a:buFont typeface="Arial"/>
              <a:buNone/>
            </a:pPr>
            <a:r>
              <a:rPr b="0" i="0" lang="en-US" sz="2200" u="none" cap="none" strike="noStrike">
                <a:solidFill>
                  <a:srgbClr val="AEB4E8"/>
                </a:solidFill>
                <a:latin typeface="Arial"/>
                <a:ea typeface="Arial"/>
                <a:cs typeface="Arial"/>
                <a:sym typeface="Arial"/>
              </a:rPr>
              <a:t>CNN from Scratch vs. Transfer Learning (MobileNetV2)</a:t>
            </a:r>
            <a:endParaRPr b="0" i="0" sz="2200" u="none" cap="none" strike="noStrike">
              <a:solidFill>
                <a:schemeClr val="dk1"/>
              </a:solidFill>
              <a:latin typeface="Calibri"/>
              <a:ea typeface="Calibri"/>
              <a:cs typeface="Calibri"/>
              <a:sym typeface="Calibri"/>
            </a:endParaRPr>
          </a:p>
        </p:txBody>
      </p:sp>
      <p:sp>
        <p:nvSpPr>
          <p:cNvPr id="18" name="Google Shape;18;p3"/>
          <p:cNvSpPr/>
          <p:nvPr/>
        </p:nvSpPr>
        <p:spPr>
          <a:xfrm>
            <a:off x="731520" y="3657600"/>
            <a:ext cx="106984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6C4"/>
              </a:buClr>
              <a:buSzPts val="1600"/>
              <a:buFont typeface="Calibri"/>
              <a:buNone/>
            </a:pPr>
            <a:r>
              <a:rPr b="0" i="0" lang="en-US" sz="1600" u="none" cap="none" strike="noStrike">
                <a:solidFill>
                  <a:srgbClr val="7F86C4"/>
                </a:solidFill>
                <a:latin typeface="Calibri"/>
                <a:ea typeface="Calibri"/>
                <a:cs typeface="Calibri"/>
                <a:sym typeface="Calibri"/>
              </a:rPr>
              <a:t>CIFAR-10 Dataset</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731520" y="603504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6C4"/>
              </a:buClr>
              <a:buSzPts val="1300"/>
              <a:buFont typeface="Calibri"/>
              <a:buNone/>
            </a:pPr>
            <a:r>
              <a:rPr b="0" i="0" lang="en-US" sz="1300" u="none" cap="none" strike="noStrike">
                <a:solidFill>
                  <a:srgbClr val="7F86C4"/>
                </a:solidFill>
                <a:latin typeface="Calibri"/>
                <a:ea typeface="Calibri"/>
                <a:cs typeface="Calibri"/>
                <a:sym typeface="Calibri"/>
              </a:rPr>
              <a:t>Kalil  |  Ironhack Data Science &amp; ML Bootcamp</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3200"/>
              <a:buFont typeface="Calibri"/>
              <a:buNone/>
            </a:pPr>
            <a:r>
              <a:rPr b="1" i="0" lang="en-US" sz="3200" u="none" cap="none" strike="noStrike">
                <a:solidFill>
                  <a:srgbClr val="1A1A2E"/>
                </a:solidFill>
                <a:latin typeface="Calibri"/>
                <a:ea typeface="Calibri"/>
                <a:cs typeface="Calibri"/>
                <a:sym typeface="Calibri"/>
              </a:rPr>
              <a:t>The Dataset: CIFAR-10</a:t>
            </a:r>
            <a:endParaRPr b="0" i="0" sz="3200" u="none" cap="none" strike="noStrike">
              <a:solidFill>
                <a:schemeClr val="dk1"/>
              </a:solidFill>
              <a:latin typeface="Calibri"/>
              <a:ea typeface="Calibri"/>
              <a:cs typeface="Calibri"/>
              <a:sym typeface="Calibri"/>
            </a:endParaRPr>
          </a:p>
        </p:txBody>
      </p:sp>
      <p:sp>
        <p:nvSpPr>
          <p:cNvPr id="26" name="Google Shape;26;p4"/>
          <p:cNvSpPr/>
          <p:nvPr/>
        </p:nvSpPr>
        <p:spPr>
          <a:xfrm>
            <a:off x="548640" y="1188720"/>
            <a:ext cx="420624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55555"/>
              </a:buClr>
              <a:buSzPts val="1600"/>
              <a:buFont typeface="Calibri"/>
              <a:buChar char="•"/>
            </a:pPr>
            <a:r>
              <a:rPr b="0" i="0" lang="en-US" sz="1600" u="none" cap="none" strike="noStrike">
                <a:solidFill>
                  <a:srgbClr val="555555"/>
                </a:solidFill>
                <a:latin typeface="Calibri"/>
                <a:ea typeface="Calibri"/>
                <a:cs typeface="Calibri"/>
                <a:sym typeface="Calibri"/>
              </a:rPr>
              <a:t>60,000 color images, 32x32 pixels</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600"/>
              <a:buFont typeface="Calibri"/>
              <a:buChar char="•"/>
            </a:pPr>
            <a:r>
              <a:rPr b="0" i="0" lang="en-US" sz="1600" u="none" cap="none" strike="noStrike">
                <a:solidFill>
                  <a:srgbClr val="555555"/>
                </a:solidFill>
                <a:latin typeface="Calibri"/>
                <a:ea typeface="Calibri"/>
                <a:cs typeface="Calibri"/>
                <a:sym typeface="Calibri"/>
              </a:rPr>
              <a:t>10 classes, 6,000 images each</a:t>
            </a:r>
            <a:endParaRPr b="0" i="0" sz="16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600"/>
              <a:buFont typeface="Calibri"/>
              <a:buChar char="•"/>
            </a:pPr>
            <a:r>
              <a:rPr b="0" i="0" lang="en-US" sz="1600" u="none" cap="none" strike="noStrike">
                <a:solidFill>
                  <a:srgbClr val="555555"/>
                </a:solidFill>
                <a:latin typeface="Calibri"/>
                <a:ea typeface="Calibri"/>
                <a:cs typeface="Calibri"/>
                <a:sym typeface="Calibri"/>
              </a:rPr>
              <a:t>50,000 train / 10,000 test split</a:t>
            </a:r>
            <a:endParaRPr b="0" i="0" sz="1600" u="none" cap="none" strike="noStrike">
              <a:solidFill>
                <a:schemeClr val="dk1"/>
              </a:solidFill>
              <a:latin typeface="Calibri"/>
              <a:ea typeface="Calibri"/>
              <a:cs typeface="Calibri"/>
              <a:sym typeface="Calibri"/>
            </a:endParaRPr>
          </a:p>
        </p:txBody>
      </p:sp>
      <p:pic>
        <p:nvPicPr>
          <p:cNvPr descr="/home/claude/pptx_assets/dataset_grid.png" id="27" name="Google Shape;27;p4"/>
          <p:cNvPicPr preferRelativeResize="0"/>
          <p:nvPr/>
        </p:nvPicPr>
        <p:blipFill rotWithShape="1">
          <a:blip r:embed="rId3">
            <a:alphaModFix/>
          </a:blip>
          <a:srcRect b="0" l="0" r="0" t="0"/>
          <a:stretch/>
        </p:blipFill>
        <p:spPr>
          <a:xfrm>
            <a:off x="4937760" y="1097280"/>
            <a:ext cx="6675120" cy="2679192"/>
          </a:xfrm>
          <a:prstGeom prst="rect">
            <a:avLst/>
          </a:prstGeom>
          <a:noFill/>
          <a:ln>
            <a:noFill/>
          </a:ln>
        </p:spPr>
      </p:pic>
      <p:sp>
        <p:nvSpPr>
          <p:cNvPr id="28" name="Google Shape;28;p4"/>
          <p:cNvSpPr/>
          <p:nvPr/>
        </p:nvSpPr>
        <p:spPr>
          <a:xfrm>
            <a:off x="4937760" y="3840480"/>
            <a:ext cx="6675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55555"/>
              </a:buClr>
              <a:buSzPts val="1200"/>
              <a:buFont typeface="Calibri"/>
              <a:buNone/>
            </a:pPr>
            <a:r>
              <a:rPr b="0" i="1" lang="en-US" sz="1200" u="none" cap="none" strike="noStrike">
                <a:solidFill>
                  <a:srgbClr val="555555"/>
                </a:solidFill>
                <a:latin typeface="Calibri"/>
                <a:ea typeface="Calibri"/>
                <a:cs typeface="Calibri"/>
                <a:sym typeface="Calibri"/>
              </a:rPr>
              <a:t>Sample images with their true labels</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5"/>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3200"/>
              <a:buFont typeface="Calibri"/>
              <a:buNone/>
            </a:pPr>
            <a:r>
              <a:rPr b="1" i="0" lang="en-US" sz="3200" u="none" cap="none" strike="noStrike">
                <a:solidFill>
                  <a:srgbClr val="1A1A2E"/>
                </a:solidFill>
                <a:latin typeface="Calibri"/>
                <a:ea typeface="Calibri"/>
                <a:cs typeface="Calibri"/>
                <a:sym typeface="Calibri"/>
              </a:rPr>
              <a:t>Data Preprocessing</a:t>
            </a:r>
            <a:endParaRPr b="0" i="0" sz="3200" u="none" cap="none" strike="noStrike">
              <a:solidFill>
                <a:schemeClr val="dk1"/>
              </a:solidFill>
              <a:latin typeface="Calibri"/>
              <a:ea typeface="Calibri"/>
              <a:cs typeface="Calibri"/>
              <a:sym typeface="Calibri"/>
            </a:endParaRPr>
          </a:p>
        </p:txBody>
      </p:sp>
      <p:sp>
        <p:nvSpPr>
          <p:cNvPr id="36" name="Google Shape;36;p5"/>
          <p:cNvSpPr/>
          <p:nvPr/>
        </p:nvSpPr>
        <p:spPr>
          <a:xfrm>
            <a:off x="548640" y="1280160"/>
            <a:ext cx="10698480" cy="2286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55555"/>
              </a:buClr>
              <a:buSzPts val="1800"/>
              <a:buFont typeface="Calibri"/>
              <a:buChar char="•"/>
            </a:pPr>
            <a:r>
              <a:rPr b="0" i="0" lang="en-US" sz="1800" u="none" cap="none" strike="noStrike">
                <a:solidFill>
                  <a:srgbClr val="555555"/>
                </a:solidFill>
                <a:latin typeface="Calibri"/>
                <a:ea typeface="Calibri"/>
                <a:cs typeface="Calibri"/>
                <a:sym typeface="Calibri"/>
              </a:rPr>
              <a:t>Normalization: pixel values rescaled from [0, 255] to [0, 1]</a:t>
            </a:r>
            <a:endParaRPr b="0" i="0" sz="18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555555"/>
              </a:buClr>
              <a:buSzPts val="1800"/>
              <a:buFont typeface="Calibri"/>
              <a:buChar char="•"/>
            </a:pPr>
            <a:r>
              <a:rPr b="0" i="0" lang="en-US" sz="1800" u="none" cap="none" strike="noStrike">
                <a:solidFill>
                  <a:srgbClr val="555555"/>
                </a:solidFill>
                <a:latin typeface="Calibri"/>
                <a:ea typeface="Calibri"/>
                <a:cs typeface="Calibri"/>
                <a:sym typeface="Calibri"/>
              </a:rPr>
              <a:t>Labels flattened to a simple 1D array</a:t>
            </a:r>
            <a:endParaRPr b="0" i="0" sz="18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555555"/>
              </a:buClr>
              <a:buSzPts val="1800"/>
              <a:buFont typeface="Calibri"/>
              <a:buChar char="•"/>
            </a:pPr>
            <a:r>
              <a:rPr b="0" i="0" lang="en-US" sz="1800" u="none" cap="none" strike="noStrike">
                <a:solidFill>
                  <a:srgbClr val="555555"/>
                </a:solidFill>
                <a:latin typeface="Calibri"/>
                <a:ea typeface="Calibri"/>
                <a:cs typeface="Calibri"/>
                <a:sym typeface="Calibri"/>
              </a:rPr>
              <a:t>For MobileNetV2: images resized to 96x96 (its minimum input size)</a:t>
            </a:r>
            <a:endParaRPr b="0" i="0" sz="1800" u="none" cap="none" strike="noStrike">
              <a:solidFill>
                <a:schemeClr val="dk1"/>
              </a:solidFill>
              <a:latin typeface="Calibri"/>
              <a:ea typeface="Calibri"/>
              <a:cs typeface="Calibri"/>
              <a:sym typeface="Calibri"/>
            </a:endParaRPr>
          </a:p>
        </p:txBody>
      </p:sp>
      <p:sp>
        <p:nvSpPr>
          <p:cNvPr id="37" name="Google Shape;37;p5"/>
          <p:cNvSpPr/>
          <p:nvPr/>
        </p:nvSpPr>
        <p:spPr>
          <a:xfrm>
            <a:off x="548640" y="3931920"/>
            <a:ext cx="10698480" cy="914400"/>
          </a:xfrm>
          <a:prstGeom prst="rect">
            <a:avLst/>
          </a:prstGeom>
          <a:solidFill>
            <a:srgbClr val="F7F7FA"/>
          </a:solidFill>
          <a:ln>
            <a:noFill/>
          </a:ln>
        </p:spPr>
        <p:txBody>
          <a:bodyPr anchorCtr="0" anchor="ctr" bIns="127000" lIns="127000" spcFirstLastPara="1" rIns="127000" wrap="square" tIns="127000">
            <a:noAutofit/>
          </a:bodyPr>
          <a:lstStyle/>
          <a:p>
            <a:pPr indent="0" lvl="0" marL="0" marR="0" rtl="0" algn="l">
              <a:spcBef>
                <a:spcPts val="0"/>
              </a:spcBef>
              <a:spcAft>
                <a:spcPts val="0"/>
              </a:spcAft>
              <a:buClr>
                <a:srgbClr val="3A3A5A"/>
              </a:buClr>
              <a:buSzPts val="1400"/>
              <a:buFont typeface="Calibri"/>
              <a:buNone/>
            </a:pPr>
            <a:r>
              <a:rPr b="0" i="1" lang="en-US" sz="1400" u="none" cap="none" strike="noStrike">
                <a:solidFill>
                  <a:srgbClr val="3A3A5A"/>
                </a:solidFill>
                <a:latin typeface="Calibri"/>
                <a:ea typeface="Calibri"/>
                <a:cs typeface="Calibri"/>
                <a:sym typeface="Calibri"/>
              </a:rPr>
              <a:t>Why normalize? Large, inconsistent pixel values (0-255) make training slower and less stable. Scaling to 0-1 helps the model converge faster.</a:t>
            </a:r>
            <a:endParaRPr b="0" i="0" sz="1400" u="none" cap="none" strike="noStrike">
              <a:solidFill>
                <a:schemeClr val="dk1"/>
              </a:solidFill>
              <a:latin typeface="Calibri"/>
              <a:ea typeface="Calibri"/>
              <a:cs typeface="Calibri"/>
              <a:sym typeface="Calibri"/>
            </a:endParaRPr>
          </a:p>
        </p:txBody>
      </p:sp>
      <p:sp>
        <p:nvSpPr>
          <p:cNvPr id="38" name="Google Shape;38;p5"/>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6"/>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US" sz="2800" u="none" cap="none" strike="noStrike">
                <a:solidFill>
                  <a:srgbClr val="1A1A2E"/>
                </a:solidFill>
                <a:latin typeface="Calibri"/>
                <a:ea typeface="Calibri"/>
                <a:cs typeface="Calibri"/>
                <a:sym typeface="Calibri"/>
              </a:rPr>
              <a:t>Model 1: CNN from Scratch — Architecture</a:t>
            </a:r>
            <a:endParaRPr b="0" i="0" sz="2800" u="none" cap="none" strike="noStrike">
              <a:solidFill>
                <a:schemeClr val="dk1"/>
              </a:solidFill>
              <a:latin typeface="Calibri"/>
              <a:ea typeface="Calibri"/>
              <a:cs typeface="Calibri"/>
              <a:sym typeface="Calibri"/>
            </a:endParaRPr>
          </a:p>
        </p:txBody>
      </p:sp>
      <p:graphicFrame>
        <p:nvGraphicFramePr>
          <p:cNvPr id="45" name="Google Shape;45;p6"/>
          <p:cNvGraphicFramePr/>
          <p:nvPr/>
        </p:nvGraphicFramePr>
        <p:xfrm>
          <a:off x="548640" y="1188720"/>
          <a:ext cx="3000000" cy="3000000"/>
        </p:xfrm>
        <a:graphic>
          <a:graphicData uri="http://schemas.openxmlformats.org/drawingml/2006/table">
            <a:tbl>
              <a:tblPr>
                <a:noFill/>
                <a:tableStyleId>{371E34C8-7312-483D-8D75-71E913C7E20F}</a:tableStyleId>
              </a:tblPr>
              <a:tblGrid>
                <a:gridCol w="2194550"/>
                <a:gridCol w="2194550"/>
                <a:gridCol w="2194550"/>
              </a:tblGrid>
              <a:tr h="3474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Layer</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Output Shape</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Params</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Conv2D (32 filters, 3x3)</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32 x 32 x 32</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896</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MaxPooling2D (2x2)</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16 x 16 x 32</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Conv2D (64 filters, 3x3)</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16 x 16 x 64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18,496</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MaxPooling2D (2x2)</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8 x 8 x 64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Flatten</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4,096</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Dense (64, relu)</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64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262,208</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47475">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Dense (10, softmax)</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10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Clr>
                          <a:srgbClr val="1A1A2E"/>
                        </a:buClr>
                        <a:buSzPts val="1200"/>
                        <a:buFont typeface="Calibri"/>
                        <a:buNone/>
                      </a:pPr>
                      <a:r>
                        <a:rPr lang="en-US" sz="1200" u="none" cap="none" strike="noStrike">
                          <a:solidFill>
                            <a:srgbClr val="1A1A2E"/>
                          </a:solidFill>
                        </a:rPr>
                        <a:t>650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46" name="Google Shape;46;p6"/>
          <p:cNvSpPr/>
          <p:nvPr/>
        </p:nvSpPr>
        <p:spPr>
          <a:xfrm>
            <a:off x="7406640" y="1280160"/>
            <a:ext cx="420624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55555"/>
              </a:buClr>
              <a:buSzPts val="1400"/>
              <a:buFont typeface="Calibri"/>
              <a:buChar char="•"/>
            </a:pPr>
            <a:r>
              <a:rPr b="1" i="0" lang="en-US" sz="1400" u="none" cap="none" strike="noStrike">
                <a:solidFill>
                  <a:srgbClr val="555555"/>
                </a:solidFill>
                <a:latin typeface="Calibri"/>
                <a:ea typeface="Calibri"/>
                <a:cs typeface="Calibri"/>
                <a:sym typeface="Calibri"/>
              </a:rPr>
              <a:t>Total params: 282,250</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All trainable — learns everything from scratch</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Optimizer: Adam</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Loss: sparse categorical crossentropy</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EarlyStopping (patience=3) to avoid overfitting</a:t>
            </a:r>
            <a:endParaRPr b="0" i="0" sz="1400" u="none" cap="none" strike="noStrike">
              <a:solidFill>
                <a:schemeClr val="dk1"/>
              </a:solidFill>
              <a:latin typeface="Calibri"/>
              <a:ea typeface="Calibri"/>
              <a:cs typeface="Calibri"/>
              <a:sym typeface="Calibri"/>
            </a:endParaRPr>
          </a:p>
        </p:txBody>
      </p:sp>
      <p:sp>
        <p:nvSpPr>
          <p:cNvPr id="47" name="Google Shape;47;p6"/>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 name="Shape 52"/>
        <p:cNvGrpSpPr/>
        <p:nvPr/>
      </p:nvGrpSpPr>
      <p:grpSpPr>
        <a:xfrm>
          <a:off x="0" y="0"/>
          <a:ext cx="0" cy="0"/>
          <a:chOff x="0" y="0"/>
          <a:chExt cx="0" cy="0"/>
        </a:xfrm>
      </p:grpSpPr>
      <p:sp>
        <p:nvSpPr>
          <p:cNvPr id="53" name="Google Shape;53;p7"/>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US" sz="2800" u="none" cap="none" strike="noStrike">
                <a:solidFill>
                  <a:srgbClr val="1A1A2E"/>
                </a:solidFill>
                <a:latin typeface="Calibri"/>
                <a:ea typeface="Calibri"/>
                <a:cs typeface="Calibri"/>
                <a:sym typeface="Calibri"/>
              </a:rPr>
              <a:t>Model 1: CNN from Scratch — Results</a:t>
            </a:r>
            <a:endParaRPr b="0" i="0" sz="2800" u="none" cap="none" strike="noStrike">
              <a:solidFill>
                <a:schemeClr val="dk1"/>
              </a:solidFill>
              <a:latin typeface="Calibri"/>
              <a:ea typeface="Calibri"/>
              <a:cs typeface="Calibri"/>
              <a:sym typeface="Calibri"/>
            </a:endParaRPr>
          </a:p>
        </p:txBody>
      </p:sp>
      <p:pic>
        <p:nvPicPr>
          <p:cNvPr descr="/home/claude/pptx_assets/cm_cnn.png" id="54" name="Google Shape;54;p7"/>
          <p:cNvPicPr preferRelativeResize="0"/>
          <p:nvPr/>
        </p:nvPicPr>
        <p:blipFill rotWithShape="1">
          <a:blip r:embed="rId3">
            <a:alphaModFix/>
          </a:blip>
          <a:srcRect b="0" l="0" r="0" t="0"/>
          <a:stretch/>
        </p:blipFill>
        <p:spPr>
          <a:xfrm>
            <a:off x="548640" y="1097280"/>
            <a:ext cx="5577840" cy="4754880"/>
          </a:xfrm>
          <a:prstGeom prst="rect">
            <a:avLst/>
          </a:prstGeom>
          <a:noFill/>
          <a:ln>
            <a:noFill/>
          </a:ln>
        </p:spPr>
      </p:pic>
      <p:sp>
        <p:nvSpPr>
          <p:cNvPr id="55" name="Google Shape;55;p7"/>
          <p:cNvSpPr/>
          <p:nvPr/>
        </p:nvSpPr>
        <p:spPr>
          <a:xfrm>
            <a:off x="6400800" y="1280160"/>
            <a:ext cx="5212080" cy="41148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4361EE"/>
              </a:buClr>
              <a:buSzPts val="2000"/>
              <a:buFont typeface="Calibri"/>
              <a:buChar char="•"/>
            </a:pPr>
            <a:r>
              <a:rPr b="1" i="0" lang="en-US" sz="2000" u="none" cap="none" strike="noStrike">
                <a:solidFill>
                  <a:srgbClr val="4361EE"/>
                </a:solidFill>
                <a:latin typeface="Calibri"/>
                <a:ea typeface="Calibri"/>
                <a:cs typeface="Calibri"/>
                <a:sym typeface="Calibri"/>
              </a:rPr>
              <a:t>Test Accuracy: 70%</a:t>
            </a:r>
            <a:endParaRPr b="0" i="0" sz="15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555555"/>
              </a:buClr>
              <a:buSzPts val="800"/>
              <a:buFont typeface="Calibri"/>
              <a:buNone/>
            </a:pPr>
            <a:r>
              <a:rPr b="0" i="0" lang="en-US" sz="800" u="none" cap="none" strike="noStrike">
                <a:solidFill>
                  <a:srgbClr val="555555"/>
                </a:solidFill>
                <a:latin typeface="Calibri"/>
                <a:ea typeface="Calibri"/>
                <a:cs typeface="Calibri"/>
                <a:sym typeface="Calibri"/>
              </a:rPr>
              <a:t> </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Best classes: automobile (0.83), ship (0.80), truck (0.79)</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Weakest classes: cat (0.51), bird (0.57), dog (0.61)</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Signs of overfitting after ~epoch 9-11 (train accuracy kept rising, val loss increased)</a:t>
            </a:r>
            <a:endParaRPr b="0" i="0" sz="1500" u="none" cap="none" strike="noStrike">
              <a:solidFill>
                <a:schemeClr val="dk1"/>
              </a:solidFill>
              <a:latin typeface="Calibri"/>
              <a:ea typeface="Calibri"/>
              <a:cs typeface="Calibri"/>
              <a:sym typeface="Calibri"/>
            </a:endParaRPr>
          </a:p>
        </p:txBody>
      </p:sp>
      <p:sp>
        <p:nvSpPr>
          <p:cNvPr id="56" name="Google Shape;56;p7"/>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8"/>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US" sz="2800" u="none" cap="none" strike="noStrike">
                <a:solidFill>
                  <a:srgbClr val="1A1A2E"/>
                </a:solidFill>
                <a:latin typeface="Calibri"/>
                <a:ea typeface="Calibri"/>
                <a:cs typeface="Calibri"/>
                <a:sym typeface="Calibri"/>
              </a:rPr>
              <a:t>Model 2: Transfer Learning (MobileNetV2)</a:t>
            </a:r>
            <a:endParaRPr b="0" i="0" sz="2800" u="none" cap="none" strike="noStrike">
              <a:solidFill>
                <a:schemeClr val="dk1"/>
              </a:solidFill>
              <a:latin typeface="Calibri"/>
              <a:ea typeface="Calibri"/>
              <a:cs typeface="Calibri"/>
              <a:sym typeface="Calibri"/>
            </a:endParaRPr>
          </a:p>
        </p:txBody>
      </p:sp>
      <p:sp>
        <p:nvSpPr>
          <p:cNvPr id="63" name="Google Shape;63;p8"/>
          <p:cNvSpPr/>
          <p:nvPr/>
        </p:nvSpPr>
        <p:spPr>
          <a:xfrm>
            <a:off x="548640" y="1188720"/>
            <a:ext cx="10972800" cy="17373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55555"/>
              </a:buClr>
              <a:buSzPts val="1700"/>
              <a:buFont typeface="Calibri"/>
              <a:buChar char="•"/>
            </a:pPr>
            <a:r>
              <a:rPr b="0" i="0" lang="en-US" sz="1700" u="none" cap="none" strike="noStrike">
                <a:solidFill>
                  <a:srgbClr val="555555"/>
                </a:solidFill>
                <a:latin typeface="Calibri"/>
                <a:ea typeface="Calibri"/>
                <a:cs typeface="Calibri"/>
                <a:sym typeface="Calibri"/>
              </a:rPr>
              <a:t>Idea: reuse a model already trained on ImageNet (1.4M images, 1000 classes)</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700"/>
              <a:buFont typeface="Calibri"/>
              <a:buChar char="•"/>
            </a:pPr>
            <a:r>
              <a:rPr b="0" i="0" lang="en-US" sz="1700" u="none" cap="none" strike="noStrike">
                <a:solidFill>
                  <a:srgbClr val="555555"/>
                </a:solidFill>
                <a:latin typeface="Calibri"/>
                <a:ea typeface="Calibri"/>
                <a:cs typeface="Calibri"/>
                <a:sym typeface="Calibri"/>
              </a:rPr>
              <a:t>The pretrained base already knows general visual features: edges, textures, shapes</a:t>
            </a:r>
            <a:endParaRPr b="0" i="0" sz="17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700"/>
              <a:buFont typeface="Calibri"/>
              <a:buChar char="•"/>
            </a:pPr>
            <a:r>
              <a:rPr b="0" i="0" lang="en-US" sz="1700" u="none" cap="none" strike="noStrike">
                <a:solidFill>
                  <a:srgbClr val="555555"/>
                </a:solidFill>
                <a:latin typeface="Calibri"/>
                <a:ea typeface="Calibri"/>
                <a:cs typeface="Calibri"/>
                <a:sym typeface="Calibri"/>
              </a:rPr>
              <a:t>We freeze the base (its weights don't change) and train only a small new layer on top</a:t>
            </a:r>
            <a:endParaRPr b="0" i="0" sz="1700" u="none" cap="none" strike="noStrike">
              <a:solidFill>
                <a:schemeClr val="dk1"/>
              </a:solidFill>
              <a:latin typeface="Calibri"/>
              <a:ea typeface="Calibri"/>
              <a:cs typeface="Calibri"/>
              <a:sym typeface="Calibri"/>
            </a:endParaRPr>
          </a:p>
        </p:txBody>
      </p:sp>
      <p:graphicFrame>
        <p:nvGraphicFramePr>
          <p:cNvPr id="64" name="Google Shape;64;p8"/>
          <p:cNvGraphicFramePr/>
          <p:nvPr/>
        </p:nvGraphicFramePr>
        <p:xfrm>
          <a:off x="1645920" y="3108960"/>
          <a:ext cx="3000000" cy="3000000"/>
        </p:xfrm>
        <a:graphic>
          <a:graphicData uri="http://schemas.openxmlformats.org/drawingml/2006/table">
            <a:tbl>
              <a:tblPr>
                <a:noFill/>
                <a:tableStyleId>{371E34C8-7312-483D-8D75-71E913C7E20F}</a:tableStyleId>
              </a:tblPr>
              <a:tblGrid>
                <a:gridCol w="4434850"/>
                <a:gridCol w="4434850"/>
              </a:tblGrid>
              <a:tr h="502925">
                <a:tc>
                  <a:txBody>
                    <a:bodyPr/>
                    <a:lstStyle/>
                    <a:p>
                      <a:pPr indent="0" lvl="0" marL="0" marR="0" rtl="0" algn="ctr">
                        <a:spcBef>
                          <a:spcPts val="0"/>
                        </a:spcBef>
                        <a:spcAft>
                          <a:spcPts val="0"/>
                        </a:spcAft>
                        <a:buClr>
                          <a:schemeClr val="dk1"/>
                        </a:buClr>
                        <a:buSzPts val="1500"/>
                        <a:buFont typeface="Calibri"/>
                        <a:buNone/>
                      </a:pPr>
                      <a:r>
                        <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rPr>
                        <a:t>Parameters</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MobileNetV2 base (frozen)</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2,257,984 — not trained</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New classification head (trained)</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12,810 — trained</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Total</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2,270,794</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65" name="Google Shape;65;p8"/>
          <p:cNvSpPr/>
          <p:nvPr/>
        </p:nvSpPr>
        <p:spPr>
          <a:xfrm>
            <a:off x="1645920" y="5212080"/>
            <a:ext cx="886968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3A3A5A"/>
              </a:buClr>
              <a:buSzPts val="1400"/>
              <a:buFont typeface="Calibri"/>
              <a:buNone/>
            </a:pPr>
            <a:r>
              <a:rPr b="0" i="1" lang="en-US" sz="1400" u="none" cap="none" strike="noStrike">
                <a:solidFill>
                  <a:srgbClr val="3A3A5A"/>
                </a:solidFill>
                <a:latin typeface="Calibri"/>
                <a:ea typeface="Calibri"/>
                <a:cs typeface="Calibri"/>
                <a:sym typeface="Calibri"/>
              </a:rPr>
              <a:t>Only 0.56% of the total parameters are actually trained — everything else is reused knowledge.</a:t>
            </a:r>
            <a:endParaRPr b="0" i="0" sz="1400" u="none" cap="none" strike="noStrike">
              <a:solidFill>
                <a:schemeClr val="dk1"/>
              </a:solidFill>
              <a:latin typeface="Calibri"/>
              <a:ea typeface="Calibri"/>
              <a:cs typeface="Calibri"/>
              <a:sym typeface="Calibri"/>
            </a:endParaRPr>
          </a:p>
        </p:txBody>
      </p:sp>
      <p:sp>
        <p:nvSpPr>
          <p:cNvPr id="66" name="Google Shape;66;p8"/>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9"/>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2800"/>
              <a:buFont typeface="Calibri"/>
              <a:buNone/>
            </a:pPr>
            <a:r>
              <a:rPr b="1" i="0" lang="en-US" sz="2800" u="none" cap="none" strike="noStrike">
                <a:solidFill>
                  <a:srgbClr val="1A1A2E"/>
                </a:solidFill>
                <a:latin typeface="Calibri"/>
                <a:ea typeface="Calibri"/>
                <a:cs typeface="Calibri"/>
                <a:sym typeface="Calibri"/>
              </a:rPr>
              <a:t>Model 2: Transfer Learning — Results</a:t>
            </a:r>
            <a:endParaRPr b="0" i="0" sz="2800" u="none" cap="none" strike="noStrike">
              <a:solidFill>
                <a:schemeClr val="dk1"/>
              </a:solidFill>
              <a:latin typeface="Calibri"/>
              <a:ea typeface="Calibri"/>
              <a:cs typeface="Calibri"/>
              <a:sym typeface="Calibri"/>
            </a:endParaRPr>
          </a:p>
        </p:txBody>
      </p:sp>
      <p:pic>
        <p:nvPicPr>
          <p:cNvPr descr="/home/claude/pptx_assets/cm_tl.png" id="73" name="Google Shape;73;p9"/>
          <p:cNvPicPr preferRelativeResize="0"/>
          <p:nvPr/>
        </p:nvPicPr>
        <p:blipFill rotWithShape="1">
          <a:blip r:embed="rId3">
            <a:alphaModFix/>
          </a:blip>
          <a:srcRect b="0" l="0" r="0" t="0"/>
          <a:stretch/>
        </p:blipFill>
        <p:spPr>
          <a:xfrm>
            <a:off x="548640" y="1097280"/>
            <a:ext cx="5577840" cy="4389120"/>
          </a:xfrm>
          <a:prstGeom prst="rect">
            <a:avLst/>
          </a:prstGeom>
          <a:noFill/>
          <a:ln>
            <a:noFill/>
          </a:ln>
        </p:spPr>
      </p:pic>
      <p:sp>
        <p:nvSpPr>
          <p:cNvPr id="74" name="Google Shape;74;p9"/>
          <p:cNvSpPr/>
          <p:nvPr/>
        </p:nvSpPr>
        <p:spPr>
          <a:xfrm>
            <a:off x="6400800" y="1280160"/>
            <a:ext cx="5212080" cy="41148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4361EE"/>
              </a:buClr>
              <a:buSzPts val="2000"/>
              <a:buFont typeface="Calibri"/>
              <a:buChar char="•"/>
            </a:pPr>
            <a:r>
              <a:rPr b="1" i="0" lang="en-US" sz="2000" u="none" cap="none" strike="noStrike">
                <a:solidFill>
                  <a:srgbClr val="4361EE"/>
                </a:solidFill>
                <a:latin typeface="Calibri"/>
                <a:ea typeface="Calibri"/>
                <a:cs typeface="Calibri"/>
                <a:sym typeface="Calibri"/>
              </a:rPr>
              <a:t>Test Accuracy: 86%</a:t>
            </a:r>
            <a:endParaRPr b="0" i="0" sz="14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555555"/>
              </a:buClr>
              <a:buSzPts val="800"/>
              <a:buFont typeface="Calibri"/>
              <a:buNone/>
            </a:pPr>
            <a:r>
              <a:rPr b="0" i="0" lang="en-US" sz="800" u="none" cap="none" strike="noStrike">
                <a:solidFill>
                  <a:srgbClr val="555555"/>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85% validation accuracy after just 1 epoch</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Big improvement on the CNN's weakest classes: bird (0.57 -&gt; 0.83), cat (0.51 -&gt; 0.73), dog (0.61 -&gt; 0.80)</a:t>
            </a:r>
            <a:endParaRPr b="0" i="0" sz="1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400"/>
              <a:buFont typeface="Calibri"/>
              <a:buChar char="•"/>
            </a:pPr>
            <a:r>
              <a:rPr b="0" i="0" lang="en-US" sz="1400" u="none" cap="none" strike="noStrike">
                <a:solidFill>
                  <a:srgbClr val="555555"/>
                </a:solidFill>
                <a:latin typeface="Calibri"/>
                <a:ea typeface="Calibri"/>
                <a:cs typeface="Calibri"/>
                <a:sym typeface="Calibri"/>
              </a:rPr>
              <a:t>cat/dog confusion nearly cut in half compared to the CNN from scratch</a:t>
            </a:r>
            <a:endParaRPr b="0" i="0" sz="1400" u="none" cap="none" strike="noStrike">
              <a:solidFill>
                <a:schemeClr val="dk1"/>
              </a:solidFill>
              <a:latin typeface="Calibri"/>
              <a:ea typeface="Calibri"/>
              <a:cs typeface="Calibri"/>
              <a:sym typeface="Calibri"/>
            </a:endParaRPr>
          </a:p>
        </p:txBody>
      </p:sp>
      <p:sp>
        <p:nvSpPr>
          <p:cNvPr id="75" name="Google Shape;75;p9"/>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10"/>
          <p:cNvSpPr/>
          <p:nvPr/>
        </p:nvSpPr>
        <p:spPr>
          <a:xfrm>
            <a:off x="548640" y="365760"/>
            <a:ext cx="109728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2E"/>
              </a:buClr>
              <a:buSzPts val="3200"/>
              <a:buFont typeface="Calibri"/>
              <a:buNone/>
            </a:pPr>
            <a:r>
              <a:rPr b="1" i="0" lang="en-US" sz="3200" u="none" cap="none" strike="noStrike">
                <a:solidFill>
                  <a:srgbClr val="1A1A2E"/>
                </a:solidFill>
                <a:latin typeface="Calibri"/>
                <a:ea typeface="Calibri"/>
                <a:cs typeface="Calibri"/>
                <a:sym typeface="Calibri"/>
              </a:rPr>
              <a:t>Comparison &amp; Trade-offs</a:t>
            </a:r>
            <a:endParaRPr b="0" i="0" sz="3200" u="none" cap="none" strike="noStrike">
              <a:solidFill>
                <a:schemeClr val="dk1"/>
              </a:solidFill>
              <a:latin typeface="Calibri"/>
              <a:ea typeface="Calibri"/>
              <a:cs typeface="Calibri"/>
              <a:sym typeface="Calibri"/>
            </a:endParaRPr>
          </a:p>
        </p:txBody>
      </p:sp>
      <p:graphicFrame>
        <p:nvGraphicFramePr>
          <p:cNvPr id="82" name="Google Shape;82;p10"/>
          <p:cNvGraphicFramePr/>
          <p:nvPr/>
        </p:nvGraphicFramePr>
        <p:xfrm>
          <a:off x="548640" y="1188720"/>
          <a:ext cx="3000000" cy="3000000"/>
        </p:xfrm>
        <a:graphic>
          <a:graphicData uri="http://schemas.openxmlformats.org/drawingml/2006/table">
            <a:tbl>
              <a:tblPr>
                <a:noFill/>
                <a:tableStyleId>{371E34C8-7312-483D-8D75-71E913C7E20F}</a:tableStyleId>
              </a:tblPr>
              <a:tblGrid>
                <a:gridCol w="3688075"/>
                <a:gridCol w="3688075"/>
                <a:gridCol w="3688075"/>
              </a:tblGrid>
              <a:tr h="502925">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rPr>
                        <a:t>Metric</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rPr>
                        <a:t>CNN from Scratch</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1A2E"/>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rPr>
                        <a:t>Transfer Learning</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4361EE"/>
                    </a:solidFill>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Test Accuracy</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70%</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86%</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Trainable Parameters</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282,250</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12,810</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Epochs to Converge</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~9-11</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1-3</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502925">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Weakest Classes (f1)</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cat 0.51, bird 0.57</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ctr">
                        <a:spcBef>
                          <a:spcPts val="0"/>
                        </a:spcBef>
                        <a:spcAft>
                          <a:spcPts val="0"/>
                        </a:spcAft>
                        <a:buClr>
                          <a:srgbClr val="1A1A2E"/>
                        </a:buClr>
                        <a:buSzPts val="1500"/>
                        <a:buFont typeface="Calibri"/>
                        <a:buNone/>
                      </a:pPr>
                      <a:r>
                        <a:rPr lang="en-US" sz="1500" u="none" cap="none" strike="noStrike">
                          <a:solidFill>
                            <a:srgbClr val="1A1A2E"/>
                          </a:solidFill>
                        </a:rPr>
                        <a:t>cat 0.73, bird 0.83</a:t>
                      </a:r>
                      <a:endParaRPr sz="15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83" name="Google Shape;83;p10"/>
          <p:cNvSpPr/>
          <p:nvPr/>
        </p:nvSpPr>
        <p:spPr>
          <a:xfrm>
            <a:off x="548640" y="4023360"/>
            <a:ext cx="11064240" cy="21031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Transfer learning wins on accuracy and speed, by reusing features learned from millions of ImageNet images.</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Trade-off: it requires resizing images to a larger input (96x96 min), adding preprocessing cost, and depends on an external pretrained model.</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555555"/>
              </a:buClr>
              <a:buSzPts val="1500"/>
              <a:buFont typeface="Calibri"/>
              <a:buChar char="•"/>
            </a:pPr>
            <a:r>
              <a:rPr b="0" i="0" lang="en-US" sz="1500" u="none" cap="none" strike="noStrike">
                <a:solidFill>
                  <a:srgbClr val="555555"/>
                </a:solidFill>
                <a:latin typeface="Calibri"/>
                <a:ea typeface="Calibri"/>
                <a:cs typeface="Calibri"/>
                <a:sym typeface="Calibri"/>
              </a:rPr>
              <a:t>The CNN from scratch is simpler and self-contained, but needs more data/epochs to reach a similar level, and still underperforms.</a:t>
            </a:r>
            <a:endParaRPr b="0" i="0" sz="1500" u="none" cap="none" strike="noStrike">
              <a:solidFill>
                <a:schemeClr val="dk1"/>
              </a:solidFill>
              <a:latin typeface="Calibri"/>
              <a:ea typeface="Calibri"/>
              <a:cs typeface="Calibri"/>
              <a:sym typeface="Calibri"/>
            </a:endParaRPr>
          </a:p>
        </p:txBody>
      </p:sp>
      <p:sp>
        <p:nvSpPr>
          <p:cNvPr id="84" name="Google Shape;84;p10"/>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2E"/>
        </a:solidFill>
      </p:bgPr>
    </p:bg>
    <p:spTree>
      <p:nvGrpSpPr>
        <p:cNvPr id="89" name="Shape 89"/>
        <p:cNvGrpSpPr/>
        <p:nvPr/>
      </p:nvGrpSpPr>
      <p:grpSpPr>
        <a:xfrm>
          <a:off x="0" y="0"/>
          <a:ext cx="0" cy="0"/>
          <a:chOff x="0" y="0"/>
          <a:chExt cx="0" cy="0"/>
        </a:xfrm>
      </p:grpSpPr>
      <p:sp>
        <p:nvSpPr>
          <p:cNvPr id="90" name="Google Shape;90;p11"/>
          <p:cNvSpPr/>
          <p:nvPr/>
        </p:nvSpPr>
        <p:spPr>
          <a:xfrm>
            <a:off x="731520" y="640080"/>
            <a:ext cx="1069848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Key Takeaways</a:t>
            </a:r>
            <a:endParaRPr b="0" i="0" sz="3200" u="none" cap="none" strike="noStrike">
              <a:solidFill>
                <a:schemeClr val="dk1"/>
              </a:solidFill>
              <a:latin typeface="Calibri"/>
              <a:ea typeface="Calibri"/>
              <a:cs typeface="Calibri"/>
              <a:sym typeface="Calibri"/>
            </a:endParaRPr>
          </a:p>
        </p:txBody>
      </p:sp>
      <p:sp>
        <p:nvSpPr>
          <p:cNvPr id="91" name="Google Shape;91;p11"/>
          <p:cNvSpPr/>
          <p:nvPr/>
        </p:nvSpPr>
        <p:spPr>
          <a:xfrm>
            <a:off x="731520" y="1645920"/>
            <a:ext cx="10515600" cy="41148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E8E8F5"/>
              </a:buClr>
              <a:buSzPts val="1900"/>
              <a:buFont typeface="Calibri"/>
              <a:buChar char="•"/>
            </a:pPr>
            <a:r>
              <a:rPr b="0" i="0" lang="en-US" sz="1900" u="none" cap="none" strike="noStrike">
                <a:solidFill>
                  <a:srgbClr val="E8E8F5"/>
                </a:solidFill>
                <a:latin typeface="Calibri"/>
                <a:ea typeface="Calibri"/>
                <a:cs typeface="Calibri"/>
                <a:sym typeface="Calibri"/>
              </a:rPr>
              <a:t>Transfer learning (MobileNetV2) significantly outperformed the CNN from scratch: 86% vs 70% accuracy.</a:t>
            </a:r>
            <a:endParaRPr b="0" i="0" sz="1900" u="none" cap="none" strike="noStrike">
              <a:solidFill>
                <a:schemeClr val="dk1"/>
              </a:solidFill>
              <a:latin typeface="Calibri"/>
              <a:ea typeface="Calibri"/>
              <a:cs typeface="Calibri"/>
              <a:sym typeface="Calibri"/>
            </a:endParaRPr>
          </a:p>
          <a:p>
            <a:pPr indent="-342900" lvl="0" marL="342900" marR="0" rtl="0" algn="l">
              <a:spcBef>
                <a:spcPts val="1600"/>
              </a:spcBef>
              <a:spcAft>
                <a:spcPts val="0"/>
              </a:spcAft>
              <a:buClr>
                <a:srgbClr val="E8E8F5"/>
              </a:buClr>
              <a:buSzPts val="1900"/>
              <a:buFont typeface="Calibri"/>
              <a:buChar char="•"/>
            </a:pPr>
            <a:r>
              <a:rPr b="0" i="0" lang="en-US" sz="1900" u="none" cap="none" strike="noStrike">
                <a:solidFill>
                  <a:srgbClr val="E8E8F5"/>
                </a:solidFill>
                <a:latin typeface="Calibri"/>
                <a:ea typeface="Calibri"/>
                <a:cs typeface="Calibri"/>
                <a:sym typeface="Calibri"/>
              </a:rPr>
              <a:t>It converged much faster, needing only a handful of epochs instead of ~10+.</a:t>
            </a:r>
            <a:endParaRPr b="0" i="0" sz="1900" u="none" cap="none" strike="noStrike">
              <a:solidFill>
                <a:schemeClr val="dk1"/>
              </a:solidFill>
              <a:latin typeface="Calibri"/>
              <a:ea typeface="Calibri"/>
              <a:cs typeface="Calibri"/>
              <a:sym typeface="Calibri"/>
            </a:endParaRPr>
          </a:p>
          <a:p>
            <a:pPr indent="-342900" lvl="0" marL="342900" marR="0" rtl="0" algn="l">
              <a:spcBef>
                <a:spcPts val="1600"/>
              </a:spcBef>
              <a:spcAft>
                <a:spcPts val="0"/>
              </a:spcAft>
              <a:buClr>
                <a:srgbClr val="E8E8F5"/>
              </a:buClr>
              <a:buSzPts val="1900"/>
              <a:buFont typeface="Calibri"/>
              <a:buChar char="•"/>
            </a:pPr>
            <a:r>
              <a:rPr b="0" i="0" lang="en-US" sz="1900" u="none" cap="none" strike="noStrike">
                <a:solidFill>
                  <a:srgbClr val="E8E8F5"/>
                </a:solidFill>
                <a:latin typeface="Calibri"/>
                <a:ea typeface="Calibri"/>
                <a:cs typeface="Calibri"/>
                <a:sym typeface="Calibri"/>
              </a:rPr>
              <a:t>Pretrained features help most on visually variable classes (animals), less on already-easy classes (vehicles).</a:t>
            </a:r>
            <a:endParaRPr b="0" i="0" sz="1900" u="none" cap="none" strike="noStrike">
              <a:solidFill>
                <a:schemeClr val="dk1"/>
              </a:solidFill>
              <a:latin typeface="Calibri"/>
              <a:ea typeface="Calibri"/>
              <a:cs typeface="Calibri"/>
              <a:sym typeface="Calibri"/>
            </a:endParaRPr>
          </a:p>
          <a:p>
            <a:pPr indent="-342900" lvl="0" marL="342900" marR="0" rtl="0" algn="l">
              <a:spcBef>
                <a:spcPts val="1600"/>
              </a:spcBef>
              <a:spcAft>
                <a:spcPts val="0"/>
              </a:spcAft>
              <a:buClr>
                <a:srgbClr val="E8E8F5"/>
              </a:buClr>
              <a:buSzPts val="1900"/>
              <a:buFont typeface="Calibri"/>
              <a:buChar char="•"/>
            </a:pPr>
            <a:r>
              <a:rPr b="0" i="0" lang="en-US" sz="1900" u="none" cap="none" strike="noStrike">
                <a:solidFill>
                  <a:srgbClr val="E8E8F5"/>
                </a:solidFill>
                <a:latin typeface="Calibri"/>
                <a:ea typeface="Calibri"/>
                <a:cs typeface="Calibri"/>
                <a:sym typeface="Calibri"/>
              </a:rPr>
              <a:t>For small, low-resolution datasets like CIFAR-10, transfer learning is a strong default choice.</a:t>
            </a:r>
            <a:endParaRPr b="0" i="0" sz="1900" u="none" cap="none" strike="noStrike">
              <a:solidFill>
                <a:schemeClr val="dk1"/>
              </a:solidFill>
              <a:latin typeface="Calibri"/>
              <a:ea typeface="Calibri"/>
              <a:cs typeface="Calibri"/>
              <a:sym typeface="Calibri"/>
            </a:endParaRPr>
          </a:p>
        </p:txBody>
      </p:sp>
      <p:sp>
        <p:nvSpPr>
          <p:cNvPr id="92" name="Google Shape;92;p11"/>
          <p:cNvSpPr/>
          <p:nvPr/>
        </p:nvSpPr>
        <p:spPr>
          <a:xfrm>
            <a:off x="731520" y="6035040"/>
            <a:ext cx="5486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6C4"/>
              </a:buClr>
              <a:buSzPts val="1600"/>
              <a:buFont typeface="Calibri"/>
              <a:buNone/>
            </a:pPr>
            <a:r>
              <a:rPr b="0" i="0" lang="en-US" sz="1600" u="none" cap="none" strike="noStrike">
                <a:solidFill>
                  <a:srgbClr val="7F86C4"/>
                </a:solidFill>
                <a:latin typeface="Calibri"/>
                <a:ea typeface="Calibri"/>
                <a:cs typeface="Calibri"/>
                <a:sym typeface="Calibri"/>
              </a:rPr>
              <a:t>Thank you</a:t>
            </a:r>
            <a:endParaRPr b="0" i="0" sz="1600" u="none" cap="none" strike="noStrike">
              <a:solidFill>
                <a:schemeClr val="dk1"/>
              </a:solidFill>
              <a:latin typeface="Calibri"/>
              <a:ea typeface="Calibri"/>
              <a:cs typeface="Calibri"/>
              <a:sym typeface="Calibri"/>
            </a:endParaRPr>
          </a:p>
        </p:txBody>
      </p:sp>
      <p:sp>
        <p:nvSpPr>
          <p:cNvPr id="93" name="Google Shape;93;p11"/>
          <p:cNvSpPr/>
          <p:nvPr/>
        </p:nvSpPr>
        <p:spPr>
          <a:xfrm>
            <a:off x="11521440" y="649224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